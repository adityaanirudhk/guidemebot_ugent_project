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Ubuntu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Source Code Pro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.fntdata"/><Relationship Id="rId20" Type="http://schemas.openxmlformats.org/officeDocument/2006/relationships/slide" Target="slides/slide15.xml"/><Relationship Id="rId42" Type="http://schemas.openxmlformats.org/officeDocument/2006/relationships/font" Target="fonts/SourceCodePro-boldItalic.fntdata"/><Relationship Id="rId41" Type="http://schemas.openxmlformats.org/officeDocument/2006/relationships/font" Target="fonts/SourceCodePro-italic.fntdata"/><Relationship Id="rId22" Type="http://schemas.openxmlformats.org/officeDocument/2006/relationships/slide" Target="slides/slide17.xml"/><Relationship Id="rId44" Type="http://schemas.openxmlformats.org/officeDocument/2006/relationships/font" Target="fonts/Oswald-bold.fntdata"/><Relationship Id="rId21" Type="http://schemas.openxmlformats.org/officeDocument/2006/relationships/slide" Target="slides/slide16.xml"/><Relationship Id="rId43" Type="http://schemas.openxmlformats.org/officeDocument/2006/relationships/font" Target="fonts/Oswald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buntu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Ubuntu-italic.fntdata"/><Relationship Id="rId10" Type="http://schemas.openxmlformats.org/officeDocument/2006/relationships/slide" Target="slides/slide5.xml"/><Relationship Id="rId32" Type="http://schemas.openxmlformats.org/officeDocument/2006/relationships/font" Target="fonts/Ubuntu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Ubuntu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schemas.openxmlformats.org/officeDocument/2006/relationships/font" Target="fonts/SourceCodePro-regular.fnt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ucid.app/lucidchart/36247157-7e58-4217-9788-15f463371cb8/edit?viewport_loc=-619%2C-1591%2C3105%2C1486%2C0_0&amp;invitationId=inv_356b11fd-6410-4559-b1d5-b004f079ac84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f2581d3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f2581d3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the main goals of our project were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guide people to their destinations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to know what destination the user wants to go we have </a:t>
            </a:r>
            <a:r>
              <a:rPr lang="nl"/>
              <a:t>a GUI with destination options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while the user is following the robot the user has small talk with the robot to know if the user is still following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also while it is guiding the user it must avoid obstacles on its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f2581d3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f2581d3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https://lucid.app/lucidchart/36247157-7e58-4217-9788-15f463371cb8/edit?viewport_loc=-619%2C-1591%2C3105%2C1486%2C0_0&amp;invitationId=inv_356b11fd-6410-4559-b1d5-b004f079ac84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The whole project has 2 big parts we have the llm part and the navigation part we start with explaining the navigation part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f2581d3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f2581d3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when the user picks a destination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the robot undocks if necessary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Publishes that navigation has started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drives to destination while avoiding obstacles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when it arrives at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Publishes that navigation has ended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lights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If user is not following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it stops its current navigation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Drives towards the dock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tries to dock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0f2581d3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0f2581d3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conv manager subs to navigation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 conv manager the dialogflow setup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conv </a:t>
            </a:r>
            <a:r>
              <a:rPr lang="nl"/>
              <a:t>manager</a:t>
            </a:r>
            <a:r>
              <a:rPr lang="nl"/>
              <a:t> </a:t>
            </a:r>
            <a:r>
              <a:rPr lang="nl"/>
              <a:t>publishes the text to be spoken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speech handler is speaking this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whisper setup stops listening while speaking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loop: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user responds to the speech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whisper hears it and transforms to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this text is given to the conversation manager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conversation manager generates a response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the speech handler is saying the response to the user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16ccd72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116ccd7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the conversation manager recieves a 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the prompt is send to dialogflow where dialogflow checks if 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</a:t>
            </a:r>
            <a:r>
              <a:rPr lang="nl"/>
              <a:t>a</a:t>
            </a:r>
            <a:r>
              <a:rPr lang="nl"/>
              <a:t> message from thee pre programed prompts to give </a:t>
            </a:r>
            <a:r>
              <a:rPr lang="nl"/>
              <a:t>a</a:t>
            </a:r>
            <a:r>
              <a:rPr lang="nl"/>
              <a:t> pre programd response (to make the responses more personalized)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otherwise we go to fallback intent and send the prompt to the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	the llm responds that conversation manager gives to the speech handler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16ccd72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16ccd72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f2581d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0f2581d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for the technical aspects we use for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navigation, nav2 with slightly altered parameters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obstacle avoidance, nav2 already </a:t>
            </a:r>
            <a:r>
              <a:rPr lang="nl"/>
              <a:t>included</a:t>
            </a:r>
            <a:r>
              <a:rPr lang="nl"/>
              <a:t> the obstacle avoidance in its parameters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localization, we first make </a:t>
            </a:r>
            <a:r>
              <a:rPr lang="nl"/>
              <a:t>a static map with SLAM and then for the rest of the time we use </a:t>
            </a:r>
            <a:r>
              <a:rPr lang="nl"/>
              <a:t>AMCL to localize ourselfs in the 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socialization, we call dialogflow this calls the webhook and that uses </a:t>
            </a:r>
            <a:r>
              <a:rPr lang="nl"/>
              <a:t>a</a:t>
            </a:r>
            <a:r>
              <a:rPr lang="nl"/>
              <a:t> LLM (OpenAI)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	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16ccd7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16ccd7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41db119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141db119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41db11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141db11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41db119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141db119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41db11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141db11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41db119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141db119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41db119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141db119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141db119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141db119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141db119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141db119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0f2581d3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0f2581d3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141db119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141db119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41db1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141db1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141db119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141db119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141db119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141db119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141db119f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141db119f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141db119f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141db119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0f2581d3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0f2581d3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Ubuntu"/>
              <a:buAutoNum type="arabicPeriod"/>
            </a:pPr>
            <a:r>
              <a:rPr lang="nl" sz="16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WSL</a:t>
            </a:r>
            <a:endParaRPr sz="16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Ubuntu"/>
              <a:buAutoNum type="arabicPeriod"/>
            </a:pPr>
            <a:r>
              <a:rPr lang="nl" sz="16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Connectivity - Wifi, Ethernet</a:t>
            </a:r>
            <a:endParaRPr sz="16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Ubuntu"/>
              <a:buAutoNum type="arabicPeriod"/>
            </a:pPr>
            <a:r>
              <a:rPr lang="nl" sz="16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Constant hardware issues with the robot </a:t>
            </a:r>
            <a:endParaRPr sz="16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Ubuntu"/>
              <a:buAutoNum type="alphaLcPeriod"/>
            </a:pPr>
            <a:r>
              <a:rPr lang="nl" sz="13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LIDAR breakdown, Comms disconnections, Motors not detected, latency in data packets transfer</a:t>
            </a:r>
            <a:endParaRPr sz="13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Ubuntu"/>
              <a:buAutoNum type="arabicPeriod"/>
            </a:pPr>
            <a:r>
              <a:rPr lang="nl" sz="16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Integration of navigation and conversation problems with networking</a:t>
            </a:r>
            <a:endParaRPr sz="16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Ubuntu"/>
              <a:buAutoNum type="arabicPeriod"/>
            </a:pPr>
            <a:r>
              <a:rPr lang="nl" sz="16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Finding a good voice</a:t>
            </a:r>
            <a:endParaRPr sz="16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Ubuntu"/>
              <a:buAutoNum type="alphaLcPeriod"/>
            </a:pPr>
            <a:r>
              <a:rPr lang="nl" sz="1300">
                <a:solidFill>
                  <a:srgbClr val="424242"/>
                </a:solidFill>
                <a:latin typeface="Ubuntu"/>
                <a:ea typeface="Ubuntu"/>
                <a:cs typeface="Ubuntu"/>
                <a:sym typeface="Ubuntu"/>
              </a:rPr>
              <a:t>mms-tts-eng was disappointing</a:t>
            </a:r>
            <a:endParaRPr sz="1300">
              <a:solidFill>
                <a:srgbClr val="424242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rgbClr val="1E6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410000"/>
            <a:ext cx="916872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indent="-31115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indent="-31115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indent="-31115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410000"/>
            <a:ext cx="916872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410000"/>
            <a:ext cx="916872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6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410000"/>
            <a:ext cx="916872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rgbClr val="1E64C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7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9" name="Google Shape;39;p7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9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410000"/>
            <a:ext cx="916872" cy="7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4" name="Google Shape;54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1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buntu"/>
              <a:buChar char="●"/>
              <a:defRPr b="0" i="0" sz="16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○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indent="-3111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■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indent="-3111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●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indent="-3111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○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indent="-3111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■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indent="-3111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●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indent="-3111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○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indent="-3111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Ubuntu"/>
              <a:buChar char="■"/>
              <a:defRPr b="0" i="0" sz="1300" u="none" cap="none" strike="noStrik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gvMZFSAW0_FV_cIdL0zm6hVhecQqrlWt/view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ZGyCrzbbxwCwYWIA1aSt6CQKHMyuFyGu/view" TargetMode="External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Lg65X4h5MhM5SeIYKfOBDT3TMzl_OzbN/view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TDsidWCmS5dV_nu916ZIERLK2LwUcPJj/view" TargetMode="External"/><Relationship Id="rId4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PjLDY2z5fQAegCnjOJ-_ajSmFsK5pOjt/view" TargetMode="External"/><Relationship Id="rId4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URZaBU6IoMEoUgKrh6pDpumjciogxXvq/view" TargetMode="External"/><Relationship Id="rId4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ouqQxrrQkVqWtiE9vyefBsCErsDTLBBX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_butGBjnJOlj9mxOIjUzN1acf7VpmS8d/view" TargetMode="External"/><Relationship Id="rId6" Type="http://schemas.openxmlformats.org/officeDocument/2006/relationships/image" Target="../media/image2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IbGavMcZmAVwxGjwXu3ssKNpZTMyDq5H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ECG4AjwZ4KXEplJoXEwWZoQfa-oqFbGq/view" TargetMode="External"/><Relationship Id="rId6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EHnwVIJJOhq8Mx-1mBsFHbWATGbvOScs/view" TargetMode="External"/><Relationship Id="rId4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8jaVZQsEqZqX7fkvrJA76XbNnZvtAVOG/view" TargetMode="External"/><Relationship Id="rId4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89kOb9X8B-2zf_WnGnKR6qSp7p7pvuh9/view" TargetMode="External"/><Relationship Id="rId4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2-eeEJ5x3VKLxCH2OeCbB28N3MWAb1Gq/view" TargetMode="External"/><Relationship Id="rId4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3m4CP3chQFuRLQ4v6_6KpcYy64PDNddR/view" TargetMode="External"/><Relationship Id="rId4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p9e3MmUsseSFbk7WneQUHIRAhN3lM3DV/view" TargetMode="External"/><Relationship Id="rId4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Robotics Project: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GuideMeBot</a:t>
            </a:r>
            <a:endParaRPr/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1832575" y="3298800"/>
            <a:ext cx="54396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2600">
                <a:solidFill>
                  <a:srgbClr val="1E64C8"/>
                </a:solidFill>
              </a:rPr>
              <a:t>Noah Delvoye</a:t>
            </a:r>
            <a:endParaRPr sz="2600">
              <a:solidFill>
                <a:srgbClr val="1E64C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2600">
                <a:solidFill>
                  <a:srgbClr val="1E64C8"/>
                </a:solidFill>
              </a:rPr>
              <a:t>Aditya Kakarlamudi</a:t>
            </a:r>
            <a:endParaRPr sz="2600">
              <a:solidFill>
                <a:srgbClr val="1E64C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2600">
                <a:solidFill>
                  <a:srgbClr val="1E64C8"/>
                </a:solidFill>
              </a:rPr>
              <a:t>Joseph Thompson</a:t>
            </a:r>
            <a:endParaRPr sz="2600">
              <a:solidFill>
                <a:srgbClr val="1E64C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2600">
                <a:solidFill>
                  <a:srgbClr val="1E64C8"/>
                </a:solidFill>
              </a:rPr>
              <a:t>Tybo Verslype</a:t>
            </a:r>
            <a:endParaRPr sz="2600">
              <a:solidFill>
                <a:srgbClr val="1E64C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Project Goal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Char char="-"/>
            </a:pPr>
            <a:r>
              <a:rPr lang="nl" sz="2000">
                <a:solidFill>
                  <a:srgbClr val="1E64C8"/>
                </a:solidFill>
              </a:rPr>
              <a:t>Robot guide</a:t>
            </a:r>
            <a:endParaRPr sz="2000">
              <a:solidFill>
                <a:srgbClr val="1E64C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Char char="-"/>
            </a:pPr>
            <a:r>
              <a:rPr lang="nl" sz="2000">
                <a:solidFill>
                  <a:srgbClr val="1E64C8"/>
                </a:solidFill>
              </a:rPr>
              <a:t>Have destinations options</a:t>
            </a:r>
            <a:endParaRPr sz="2000">
              <a:solidFill>
                <a:srgbClr val="1E64C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Char char="-"/>
            </a:pPr>
            <a:r>
              <a:rPr lang="nl" sz="2000">
                <a:solidFill>
                  <a:srgbClr val="1E64C8"/>
                </a:solidFill>
              </a:rPr>
              <a:t>Have a conversation while guiding</a:t>
            </a:r>
            <a:endParaRPr sz="2000">
              <a:solidFill>
                <a:srgbClr val="1E64C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Char char="-"/>
            </a:pPr>
            <a:r>
              <a:rPr lang="nl" sz="2000">
                <a:solidFill>
                  <a:srgbClr val="1E64C8"/>
                </a:solidFill>
              </a:rPr>
              <a:t>Avoid obstacles</a:t>
            </a:r>
            <a:endParaRPr sz="2500">
              <a:solidFill>
                <a:srgbClr val="1E64C8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216250"/>
            <a:ext cx="7038900" cy="9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Design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555" y="0"/>
            <a:ext cx="5821439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3"/>
          <p:cNvCxnSpPr>
            <a:stCxn id="76" idx="0"/>
          </p:cNvCxnSpPr>
          <p:nvPr/>
        </p:nvCxnSpPr>
        <p:spPr>
          <a:xfrm>
            <a:off x="6233275" y="0"/>
            <a:ext cx="0" cy="51435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8" name="Google Shape;78;p13"/>
          <p:cNvSpPr txBox="1"/>
          <p:nvPr/>
        </p:nvSpPr>
        <p:spPr>
          <a:xfrm>
            <a:off x="4505100" y="0"/>
            <a:ext cx="14613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LLM</a:t>
            </a:r>
            <a:endParaRPr sz="1300">
              <a:solidFill>
                <a:schemeClr val="accent1"/>
              </a:solidFill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7188800" y="0"/>
            <a:ext cx="14613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NAVIGATION</a:t>
            </a:r>
            <a:endParaRPr sz="1300">
              <a:solidFill>
                <a:schemeClr val="accent1"/>
              </a:solidFill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131400" y="231575"/>
            <a:ext cx="2619600" cy="9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4131400" y="1404825"/>
            <a:ext cx="44781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Undock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Start/Stop conversation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Arrival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Not followed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3">
            <a:alphaModFix/>
          </a:blip>
          <a:srcRect b="22085" l="54317" r="0" t="2845"/>
          <a:stretch/>
        </p:blipFill>
        <p:spPr>
          <a:xfrm>
            <a:off x="0" y="0"/>
            <a:ext cx="354274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-23050"/>
            <a:ext cx="1535100" cy="19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613150" y="598388"/>
            <a:ext cx="2619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LLM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13150" y="1703875"/>
            <a:ext cx="4537500" cy="28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navigation status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2000"/>
              <a:buFont typeface="Lato"/>
              <a:buChar char="-"/>
            </a:pPr>
            <a:r>
              <a:rPr lang="nl" sz="2000">
                <a:solidFill>
                  <a:srgbClr val="1E64C8"/>
                </a:solidFill>
                <a:latin typeface="Lato"/>
                <a:ea typeface="Lato"/>
                <a:cs typeface="Lato"/>
                <a:sym typeface="Lato"/>
              </a:rPr>
              <a:t>Dialogflow</a:t>
            </a:r>
            <a:endParaRPr sz="2000">
              <a:solidFill>
                <a:srgbClr val="1E64C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50330" t="0"/>
          <a:stretch/>
        </p:blipFill>
        <p:spPr>
          <a:xfrm>
            <a:off x="6252448" y="0"/>
            <a:ext cx="289155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0" y="-23050"/>
            <a:ext cx="1535100" cy="19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25900" y="598388"/>
            <a:ext cx="2619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LLM</a:t>
            </a:r>
            <a:endParaRPr>
              <a:solidFill>
                <a:srgbClr val="1E64C8"/>
              </a:solidFill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975" y="332352"/>
            <a:ext cx="5896025" cy="46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title="Screenshot_20251217_152546_Chrome.jpg"/>
          <p:cNvPicPr preferRelativeResize="0"/>
          <p:nvPr/>
        </p:nvPicPr>
        <p:blipFill rotWithShape="1">
          <a:blip r:embed="rId4">
            <a:alphaModFix/>
          </a:blip>
          <a:srcRect b="0" l="0" r="0" t="52446"/>
          <a:stretch/>
        </p:blipFill>
        <p:spPr>
          <a:xfrm>
            <a:off x="0" y="1782175"/>
            <a:ext cx="3396851" cy="243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Technical aspects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T</a:t>
            </a:r>
            <a:r>
              <a:rPr lang="nl">
                <a:solidFill>
                  <a:srgbClr val="1E64C8"/>
                </a:solidFill>
              </a:rPr>
              <a:t>echnical aspects of our solution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1297500" y="1567550"/>
            <a:ext cx="7038900" cy="34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1800"/>
              <a:buChar char="-"/>
            </a:pPr>
            <a:r>
              <a:rPr lang="nl" sz="1800">
                <a:solidFill>
                  <a:srgbClr val="1E64C8"/>
                </a:solidFill>
              </a:rPr>
              <a:t>Navigation</a:t>
            </a:r>
            <a:endParaRPr sz="18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 Nav2</a:t>
            </a:r>
            <a:endParaRPr sz="1600">
              <a:solidFill>
                <a:srgbClr val="1E64C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1800"/>
              <a:buChar char="-"/>
            </a:pPr>
            <a:r>
              <a:rPr lang="nl" sz="1800">
                <a:solidFill>
                  <a:srgbClr val="1E64C8"/>
                </a:solidFill>
              </a:rPr>
              <a:t>O</a:t>
            </a:r>
            <a:r>
              <a:rPr lang="nl" sz="1800">
                <a:solidFill>
                  <a:srgbClr val="1E64C8"/>
                </a:solidFill>
              </a:rPr>
              <a:t>bstacle Avoidance</a:t>
            </a:r>
            <a:endParaRPr sz="18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Nav2</a:t>
            </a:r>
            <a:endParaRPr sz="1600">
              <a:solidFill>
                <a:srgbClr val="1E64C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1800"/>
              <a:buChar char="-"/>
            </a:pPr>
            <a:r>
              <a:rPr lang="nl" sz="1800">
                <a:solidFill>
                  <a:srgbClr val="1E64C8"/>
                </a:solidFill>
              </a:rPr>
              <a:t>Localization</a:t>
            </a:r>
            <a:endParaRPr sz="18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AMCL</a:t>
            </a:r>
            <a:endParaRPr sz="1600">
              <a:solidFill>
                <a:srgbClr val="1E64C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64C8"/>
              </a:buClr>
              <a:buSzPts val="1800"/>
              <a:buChar char="-"/>
            </a:pPr>
            <a:r>
              <a:rPr lang="nl" sz="1800">
                <a:solidFill>
                  <a:srgbClr val="1E64C8"/>
                </a:solidFill>
              </a:rPr>
              <a:t>Socializing</a:t>
            </a:r>
            <a:endParaRPr sz="16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Dialog Flow</a:t>
            </a:r>
            <a:r>
              <a:rPr lang="nl" sz="1600">
                <a:solidFill>
                  <a:srgbClr val="1E64C8"/>
                </a:solidFill>
              </a:rPr>
              <a:t> </a:t>
            </a:r>
            <a:endParaRPr sz="16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Webhook</a:t>
            </a:r>
            <a:endParaRPr sz="1600">
              <a:solidFill>
                <a:srgbClr val="1E64C8"/>
              </a:solidFill>
            </a:endParaRPr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Clr>
                <a:srgbClr val="1E64C8"/>
              </a:buClr>
              <a:buSzPts val="1600"/>
              <a:buChar char="-"/>
            </a:pPr>
            <a:r>
              <a:rPr lang="nl" sz="1600">
                <a:solidFill>
                  <a:srgbClr val="1E64C8"/>
                </a:solidFill>
              </a:rPr>
              <a:t>LLM (OpenAI)</a:t>
            </a:r>
            <a:endParaRPr sz="1600">
              <a:solidFill>
                <a:srgbClr val="1E64C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DEMO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Basic Navigation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1287888" y="117147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5" name="Google Shape;125;p20" title="VID2025121710352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12" y="1171475"/>
            <a:ext cx="6568201" cy="3694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 + obstacle avoidance 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1287900" y="117147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2" name="Google Shape;132;p21" title="VID20251213131932-17-12-2025, 11:38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475"/>
            <a:ext cx="6568013" cy="369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 1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287900" y="1216900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9" name="Google Shape;139;p22" title="VID2025121710363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012" y="1216900"/>
            <a:ext cx="6567980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 2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12879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46" name="Google Shape;146;p23" title="VID20251217103748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525"/>
            <a:ext cx="6567988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 3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12879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53" name="Google Shape;153;p24" title="VID202512171358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525"/>
            <a:ext cx="6568201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Navigation 4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12879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60" name="Google Shape;160;p25" title="VID2025121713591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525"/>
            <a:ext cx="6568201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Kidnapping</a:t>
            </a:r>
            <a:endParaRPr>
              <a:solidFill>
                <a:srgbClr val="1E64C8"/>
              </a:solidFill>
            </a:endParaRPr>
          </a:p>
        </p:txBody>
      </p:sp>
      <p:pic>
        <p:nvPicPr>
          <p:cNvPr id="166" name="Google Shape;166;p26" title="kidna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41975"/>
            <a:ext cx="4666726" cy="350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 title="Bezig met opnemen 2025-12-17 143147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6725" y="2098124"/>
            <a:ext cx="4477274" cy="237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Kidnapping</a:t>
            </a:r>
            <a:endParaRPr>
              <a:solidFill>
                <a:srgbClr val="1E64C8"/>
              </a:solidFill>
            </a:endParaRPr>
          </a:p>
        </p:txBody>
      </p:sp>
      <p:pic>
        <p:nvPicPr>
          <p:cNvPr id="173" name="Google Shape;173;p27" title="VID2025121714493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58400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 title="Bezig met opnemen 2025-12-17 145647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1802338"/>
            <a:ext cx="4419599" cy="2341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Docking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12879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81" name="Google Shape;181;p28" title="VID2025121619195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525"/>
            <a:ext cx="6568022" cy="369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Stop navigating and dock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12879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88" name="Google Shape;188;p29" title="VID2025121715270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00" y="1171525"/>
            <a:ext cx="6568201" cy="369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Lights when destination is reached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13327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95" name="Google Shape;195;p30" title="VID2025121709574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700" y="1171526"/>
            <a:ext cx="6568201" cy="3694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Conversation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13327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02" name="Google Shape;202;p31" title="VID2025121712394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700" y="1171525"/>
            <a:ext cx="6568201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No response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1332700" y="1171525"/>
            <a:ext cx="6568200" cy="369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09" name="Google Shape;209;p32" title="VID2025121712572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700" y="1171525"/>
            <a:ext cx="6568201" cy="36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No response</a:t>
            </a:r>
            <a:endParaRPr>
              <a:solidFill>
                <a:srgbClr val="1E64C8"/>
              </a:solidFill>
            </a:endParaRPr>
          </a:p>
        </p:txBody>
      </p:sp>
      <p:pic>
        <p:nvPicPr>
          <p:cNvPr id="215" name="Google Shape;215;p33" title="blank_audio_robotic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0025" y="1228850"/>
            <a:ext cx="6635909" cy="373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Stopping conversation with no response</a:t>
            </a:r>
            <a:endParaRPr>
              <a:solidFill>
                <a:srgbClr val="1E64C8"/>
              </a:solidFill>
            </a:endParaRPr>
          </a:p>
        </p:txBody>
      </p:sp>
      <p:pic>
        <p:nvPicPr>
          <p:cNvPr id="221" name="Google Shape;221;p34"/>
          <p:cNvPicPr preferRelativeResize="0"/>
          <p:nvPr/>
        </p:nvPicPr>
        <p:blipFill rotWithShape="1">
          <a:blip r:embed="rId3">
            <a:alphaModFix/>
          </a:blip>
          <a:srcRect b="0" l="0" r="11886" t="0"/>
          <a:stretch/>
        </p:blipFill>
        <p:spPr>
          <a:xfrm>
            <a:off x="0" y="1754191"/>
            <a:ext cx="9144000" cy="2216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1E64C8"/>
                </a:solidFill>
              </a:rPr>
              <a:t>The end!</a:t>
            </a:r>
            <a:endParaRPr>
              <a:solidFill>
                <a:srgbClr val="1E64C8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